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Q1. Alunos constantes (presentes nos 3 anos). Em fase 32,7%→65,2%; Moderada 65,8%→34,4%; Severa 1,5%→0,4%. Forte redução da defasagem.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Q2. IDA médio 6,67→6,78→6,22 (Δ −0,45). Alta na Fase 7 (+1,33) e Fase 2 (+0,71); a maioria das fases recuou −desempenho é o ponto de atenção.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Q3. Correlação (Pearson): IEG×IPV=0,55; IEG×IDA=0,53 (moderadas). Engajamento é alavanca de efeito duplo.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Q4. IAA tem correlação muito fraca com IDA (0,08) e IEG (0,11). Usar o IAA como termômetro emocional, não de desempenho.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Q5. Correção metodológica (só pares com ano seguinte observável): o IPS antecede queda de ENGAJAMENTO (IEG) − Baixo 57%, Médio 46%, Alto 33%. Para o desempenho (IDA) a relação é fraca (~55% em todas as faixas). IPS = alerta precoce de desengajamento.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Q6. IPP médio por IAN: 7,55 (em fase) / 6,88 (moderada) / 6,99 (severa). Confirma na média (em fase mais alto), mas grande dispersão individual − direcionar apoio pelo potencial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Q7. Correlação com IPV: IDA 0,58, IEG 0,55, IPP 0,53; IAN 0,14, IAA 0,02, IPS ~0. Engajamento + estudo + apoio pedagógico disparam a virada.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Q8. Correlação com INDE: IDA 0,76, IEG 0,72, IPP 0,43, IPS 0,24. Foco: recuperar engajamento e notas para elevar o INDE.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Q9. Alvo: estar defasado no ano seguinte (probabilidade de entrar em risco). Treinado apenas com alunos constantes: n=936 pares; base rate 46,5%. Random Forest AUC 0,88 (Rede Neural 0,88). Principais sinais: defasagem atual e IPP, seguidos de IPV/IDA/IPS. Etapas: feature engineering, split treino/teste, modelagem, avaliação (ROC-AUC), deploy no Streamlit Community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Q10. INDE médio 7,38→7,36→7,38 (estável). Topázio 22,6%→24,6%→34,2%; Quartzo 6,4%→7,2%→11,8%. Em fase dobrou e Topázio cresce; IDA e IEG recuam em 2024 − pontos de atenção.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4754880" cy="4754880"/>
          </a:xfrm>
          <a:prstGeom prst="ellipse">
            <a:avLst/>
          </a:prstGeom>
          <a:ln w="15875">
            <a:solidFill>
              <a:srgbClr val="0E6E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457200"/>
            <a:ext cx="3108960" cy="3108960"/>
          </a:xfrm>
          <a:prstGeom prst="ellipse">
            <a:avLst/>
          </a:prstGeom>
          <a:ln w="15875">
            <a:solidFill>
              <a:srgbClr val="E8A1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411480"/>
            <a:ext cx="1371600" cy="137160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5" name="Text 3"/>
          <p:cNvSpPr/>
          <p:nvPr/>
        </p:nvSpPr>
        <p:spPr>
          <a:xfrm>
            <a:off x="10561320" y="384048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· POSTECH — FASE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Transformação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Contada pelos Dados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 desenvolvimento educacional  ·  PEDE 2022 · 2023 · 2024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41148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4425696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Luigi  ·  Lyncoln  ·  Rafael  ·  Mariana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486400"/>
            <a:ext cx="841248" cy="384048"/>
          </a:xfrm>
          <a:prstGeom prst="roundRect">
            <a:avLst>
              <a:gd name="adj" fmla="val 23810"/>
            </a:avLst>
          </a:prstGeom>
          <a:solidFill>
            <a:srgbClr val="1D3A54"/>
          </a:solidFill>
          <a:ln w="12700">
            <a:solidFill>
              <a:srgbClr val="2C4A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48640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27632" y="5486400"/>
            <a:ext cx="841248" cy="384048"/>
          </a:xfrm>
          <a:prstGeom prst="roundRect">
            <a:avLst>
              <a:gd name="adj" fmla="val 23810"/>
            </a:avLst>
          </a:prstGeom>
          <a:solidFill>
            <a:srgbClr val="1D3A54"/>
          </a:solidFill>
          <a:ln w="12700">
            <a:solidFill>
              <a:srgbClr val="2C4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7632" y="548640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15184" y="5486400"/>
            <a:ext cx="841248" cy="384048"/>
          </a:xfrm>
          <a:prstGeom prst="roundRect">
            <a:avLst>
              <a:gd name="adj" fmla="val 23810"/>
            </a:avLst>
          </a:prstGeom>
          <a:solidFill>
            <a:srgbClr val="1D3A54"/>
          </a:solidFill>
          <a:ln w="12700">
            <a:solidFill>
              <a:srgbClr val="2C4A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548640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02736" y="5486400"/>
            <a:ext cx="841248" cy="384048"/>
          </a:xfrm>
          <a:prstGeom prst="roundRect">
            <a:avLst>
              <a:gd name="adj" fmla="val 23810"/>
            </a:avLst>
          </a:prstGeom>
          <a:solidFill>
            <a:srgbClr val="1D3A54"/>
          </a:solidFill>
          <a:ln w="12700">
            <a:solidFill>
              <a:srgbClr val="2C4A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2736" y="548640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90288" y="5486400"/>
            <a:ext cx="841248" cy="384048"/>
          </a:xfrm>
          <a:prstGeom prst="roundRect">
            <a:avLst>
              <a:gd name="adj" fmla="val 23810"/>
            </a:avLst>
          </a:prstGeom>
          <a:solidFill>
            <a:srgbClr val="1D3A54"/>
          </a:solidFill>
          <a:ln w="12700">
            <a:solidFill>
              <a:srgbClr val="2C4A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548640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5486400"/>
            <a:ext cx="841248" cy="384048"/>
          </a:xfrm>
          <a:prstGeom prst="roundRect">
            <a:avLst>
              <a:gd name="adj" fmla="val 23810"/>
            </a:avLst>
          </a:prstGeom>
          <a:solidFill>
            <a:srgbClr val="1D3A54"/>
          </a:solidFill>
          <a:ln w="12700">
            <a:solidFill>
              <a:srgbClr val="2C4A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548640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65392" y="5486400"/>
            <a:ext cx="841248" cy="384048"/>
          </a:xfrm>
          <a:prstGeom prst="roundRect">
            <a:avLst>
              <a:gd name="adj" fmla="val 23810"/>
            </a:avLst>
          </a:prstGeom>
          <a:solidFill>
            <a:srgbClr val="1D3A54"/>
          </a:solidFill>
          <a:ln w="12700">
            <a:solidFill>
              <a:srgbClr val="2C4A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548640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52944" y="5486400"/>
            <a:ext cx="841248" cy="384048"/>
          </a:xfrm>
          <a:prstGeom prst="roundRect">
            <a:avLst>
              <a:gd name="adj" fmla="val 23810"/>
            </a:avLst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2944" y="548640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como ferramenta para transformar a vida de crianças e jovens.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E6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PROPÓSITO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anos transformando vidas pela educação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37944"/>
            <a:ext cx="82296" cy="777240"/>
          </a:xfrm>
          <a:prstGeom prst="rect">
            <a:avLst/>
          </a:prstGeom>
          <a:solidFill>
            <a:srgbClr val="0E6E63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83080"/>
            <a:ext cx="5449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 — Onde tudo começou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Michelle Flues e Dimetri Ivanoff iniciam o trabalho dentro de orfanatos em Embu-Guaçu.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82296" cy="77724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852928"/>
            <a:ext cx="5449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— A Associação nasce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se amplia e se estrutura como projeto social e educacional: a Passos Mágicos.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82296" cy="868680"/>
          </a:xfrm>
          <a:prstGeom prst="rect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922776"/>
            <a:ext cx="54498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— A fórmula mágica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de qualidade + apoio psicológico e psicopedagógico + visão de mundo + protagonismo.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92240" y="1783080"/>
            <a:ext cx="5120640" cy="3246120"/>
          </a:xfrm>
          <a:prstGeom prst="roundRect">
            <a:avLst>
              <a:gd name="adj" fmla="val 2817"/>
            </a:avLst>
          </a:prstGeom>
          <a:solidFill>
            <a:srgbClr val="12263A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12280" y="2395728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Instrumentalizar a educação como ferramenta para mudar as condições de vida de crianças e jovens em vulnerabilidade social — levando-os a melhores oportunidades.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12280" y="3767328"/>
            <a:ext cx="4480560" cy="0"/>
          </a:xfrm>
          <a:prstGeom prst="line">
            <a:avLst/>
          </a:prstGeom>
          <a:noFill/>
          <a:ln w="12700">
            <a:solidFill>
              <a:srgbClr val="2C4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3913632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que os dados respondem: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“Essa fórmula está, de fato, mudando vidas?”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dataset PEDE (Pesquisa Extensiva do Desenvolvimento Educacional) — 2022, 2023 e 2024, consolidado e tratado (3.030 registros).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94637" cy="310896"/>
          </a:xfrm>
          <a:prstGeom prst="roundRect">
            <a:avLst>
              <a:gd name="adj" fmla="val 50000"/>
            </a:avLst>
          </a:prstGeom>
          <a:solidFill>
            <a:srgbClr val="0E6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9463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MEDIMOS A MÁGICA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INDE e seus 7 sinais de desenvolvimento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aluno recebe uma nota geral — o INDE — construída a partir de sete dimensões. Em linguagem simples: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286000"/>
            <a:ext cx="566928" cy="56692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23042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de Nível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944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na série certa para a idade?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28416" y="2121408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2286000"/>
            <a:ext cx="566928" cy="566928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3493008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51376" y="23042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Acadêmico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11296" y="2944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em Mat., Português e Inglês.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08192" y="2121408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2286000"/>
            <a:ext cx="566928" cy="5669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31152" y="23042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91072" y="2944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participa e entrega tarefas.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87968" y="2121408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2286000"/>
            <a:ext cx="566928" cy="566928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0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710928" y="23042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070848" y="2944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aluno enxerga a si mesmo.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85032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3849624"/>
            <a:ext cx="566928" cy="56692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3849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371600" y="386791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Psicossocial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1520" y="45079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psicólogos: emoção e social.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28416" y="3685032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93008" y="384962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3" name="Text 31"/>
          <p:cNvSpPr/>
          <p:nvPr/>
        </p:nvSpPr>
        <p:spPr>
          <a:xfrm>
            <a:off x="3493008" y="3849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151376" y="386791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Psicopedagógico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511296" y="45079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do potencial pedagógico atual.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08192" y="3685032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72784" y="3849624"/>
            <a:ext cx="566928" cy="566928"/>
          </a:xfrm>
          <a:prstGeom prst="ellipse">
            <a:avLst/>
          </a:prstGeom>
          <a:solidFill>
            <a:srgbClr val="7A5C99"/>
          </a:solidFill>
          <a:ln/>
        </p:spPr>
      </p:sp>
      <p:sp>
        <p:nvSpPr>
          <p:cNvPr id="38" name="Text 36"/>
          <p:cNvSpPr/>
          <p:nvPr/>
        </p:nvSpPr>
        <p:spPr>
          <a:xfrm>
            <a:off x="6272784" y="3849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931152" y="386791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Virada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291072" y="45079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salto de desenvolvimento no tempo.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887968" y="3685032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E8A13A"/>
          </a:solidFill>
          <a:ln/>
        </p:spPr>
      </p:sp>
      <p:sp>
        <p:nvSpPr>
          <p:cNvPr id="42" name="Text 40"/>
          <p:cNvSpPr/>
          <p:nvPr/>
        </p:nvSpPr>
        <p:spPr>
          <a:xfrm>
            <a:off x="9070848" y="38313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070848" y="42519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geral: soma ponderada dos 7 sinais. Classifica o aluno em Pedras.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413248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2263A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54132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por Pedra: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Quartzo  ‹  Ágata  ‹  Ametista  ‹  Topázio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69694" cy="310896"/>
          </a:xfrm>
          <a:prstGeom prst="roundRect">
            <a:avLst>
              <a:gd name="adj" fmla="val 50000"/>
            </a:avLst>
          </a:prstGeom>
          <a:solidFill>
            <a:srgbClr val="0E6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696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 DA JORNADA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Fases, idade ideal e o conceito de defasagem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8 fases × idade ideal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4937760" cy="347472"/>
          </a:xfrm>
          <a:prstGeom prst="rect">
            <a:avLst/>
          </a:prstGeom>
          <a:solidFill>
            <a:srgbClr val="EEF2F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9572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3957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8 anos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7614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7614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9 anos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108960"/>
            <a:ext cx="4937760" cy="347472"/>
          </a:xfrm>
          <a:prstGeom prst="rect">
            <a:avLst/>
          </a:prstGeom>
          <a:solidFill>
            <a:srgbClr val="EE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272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1272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11 anos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49300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4930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– 13 anos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840480"/>
            <a:ext cx="4937760" cy="347472"/>
          </a:xfrm>
          <a:prstGeom prst="rect">
            <a:avLst/>
          </a:prstGeom>
          <a:solidFill>
            <a:srgbClr val="EE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587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85876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anos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22452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42245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anos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4572000"/>
            <a:ext cx="4937760" cy="347472"/>
          </a:xfrm>
          <a:prstGeom prst="rect">
            <a:avLst/>
          </a:prstGeom>
          <a:solidFill>
            <a:srgbClr val="EEF2F4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5902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4590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anos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956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49560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anos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5303520"/>
            <a:ext cx="4937760" cy="347472"/>
          </a:xfrm>
          <a:prstGeom prst="rect">
            <a:avLst/>
          </a:prstGeom>
          <a:solidFill>
            <a:srgbClr val="EEF2F4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32180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53218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anos +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17830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2263A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defasagem?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23317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 =  Fase efetiva  −  Fase ideal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92240" y="29260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valor negativo significa que o aluno está atrasado em relação à fase esperada para a sua idade.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39319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0965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 (PEDE 2024)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92240" y="4480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de 12 anos deveria estar na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mas está na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92240" y="5074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2 − 3 = </a:t>
            </a:r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pPr indent="0" marL="0">
              <a:buNone/>
            </a:pPr>
            <a:r>
              <a:rPr lang="en-US" sz="1300" i="1" dirty="0">
                <a:solidFill>
                  <a:srgbClr val="5A6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defasado em 1 ano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297680"/>
            <a:ext cx="4206240" cy="4206240"/>
          </a:xfrm>
          <a:prstGeom prst="ellipse">
            <a:avLst/>
          </a:prstGeom>
          <a:ln w="15875">
            <a:solidFill>
              <a:srgbClr val="1D3A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ln w="15875">
            <a:solidFill>
              <a:srgbClr val="1D3A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031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108960" y="2331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Diagnóstico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154680" y="3429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alunos estão hoje?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69310" cy="310896"/>
          </a:xfrm>
          <a:prstGeom prst="roundRect">
            <a:avLst>
              <a:gd name="adj" fmla="val 50000"/>
            </a:avLst>
          </a:prstGeom>
          <a:solidFill>
            <a:srgbClr val="0E6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1693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01 · IAN — Adequação de Nível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defasagem está recuando — e rápido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82296" cy="685800"/>
          </a:xfrm>
          <a:prstGeom prst="rect">
            <a:avLst/>
          </a:prstGeom>
          <a:solidFill>
            <a:srgbClr val="0E6E63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37360"/>
            <a:ext cx="48554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faixas de defasagem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fase (D ≥ 0), Moderada (−1 a −2) e Severa (mais de 2 anos de atraso).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82296" cy="8229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715768"/>
            <a:ext cx="48554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“em fase” quase dobraram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32,7% (2022) para 65,2% (2024): quase o dobro — dois em cada três já estão na série certa para a idade.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82296" cy="96012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831336"/>
            <a:ext cx="485546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 severa quase zerada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Caiu de 1,5% para 0,4%; a moderada recuou de 65,8% para 34,4% — sinal claro de que o acompanhamento funciona.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0" y="1691640"/>
            <a:ext cx="5696712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pic>
        <p:nvPicPr>
          <p:cNvPr id="12" name="Image 0" descr="/home/claude/charts/q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53328" y="1801368"/>
            <a:ext cx="5477256" cy="40782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319272" cy="310896"/>
          </a:xfrm>
          <a:prstGeom prst="roundRect">
            <a:avLst>
              <a:gd name="adj" fmla="val 50000"/>
            </a:avLst>
          </a:prstGeom>
          <a:solidFill>
            <a:srgbClr val="0E6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319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02 · IDA — Desempenho Acadêmico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Desempenho recua — o ponto de atenção do ciclo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EAF3F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801368"/>
            <a:ext cx="201168" cy="20116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572768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desempenho médio recuou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−0,45 ponto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acumulado (6,67 → 6,22): sobe até 2023 e cai em 2024.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91672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pic>
        <p:nvPicPr>
          <p:cNvPr id="9" name="Image 0" descr="/home/claude/charts/q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441448"/>
            <a:ext cx="10872216" cy="33924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998464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i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  </a:t>
            </a:r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esquerda, a média geral do IDA recua no período; à direita, por fase. Destaques de alta: Fase 7 (+1,33) e Fase 2 (+0,71); a maioria das fases recuou — atenção geral ao desempenho.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297680"/>
            <a:ext cx="4206240" cy="4206240"/>
          </a:xfrm>
          <a:prstGeom prst="ellipse">
            <a:avLst/>
          </a:prstGeom>
          <a:ln w="15875">
            <a:solidFill>
              <a:srgbClr val="1D3A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ln w="15875">
            <a:solidFill>
              <a:srgbClr val="1D3A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031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108960" y="2331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Conexões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154680" y="3429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realmente move o desenvolvimento?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44445" cy="310896"/>
          </a:xfrm>
          <a:prstGeom prst="roundRect">
            <a:avLst>
              <a:gd name="adj" fmla="val 50000"/>
            </a:avLst>
          </a:prstGeom>
          <a:solidFill>
            <a:srgbClr val="0E6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4444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03 · IEG — Engajamento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se engaja, aprende — e vira a chave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EAF3F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801368"/>
            <a:ext cx="201168" cy="20116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572768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engajamento anda junto com o aprendizado e a virada: correlação moderada com o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 (0,55)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(0,53)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91672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pic>
        <p:nvPicPr>
          <p:cNvPr id="9" name="Image 0" descr="/home/claude/charts/q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441448"/>
            <a:ext cx="10872216" cy="33924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998464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i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  </a:t>
            </a:r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dispersões, quanto maior o IEG (eixo horizontal), mais altas tendem a ser as notas de desempenho (IDA) e de ponto de virada (IPV). A linha vermelha resume a tendência.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94406" cy="310896"/>
          </a:xfrm>
          <a:prstGeom prst="roundRect">
            <a:avLst>
              <a:gd name="adj" fmla="val 50000"/>
            </a:avLst>
          </a:prstGeom>
          <a:solidFill>
            <a:srgbClr val="0E6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9440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04 · IAA — Autoavaliação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espelho não bate com a régua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82296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37360"/>
            <a:ext cx="4855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quase nula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 × IDA = 0,08 e IAA × IEG = 0,11: relação muito fraca com a realidade objetiva.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82296" cy="731520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761488"/>
            <a:ext cx="4855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aluno se enxerga quase não reflete seu desempenho real nem seu engajamento.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82296" cy="77724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785616"/>
            <a:ext cx="48554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emocionais ou familiares podem coexistir com bom desempenho — e vice-versa.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0" y="1691640"/>
            <a:ext cx="5696712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pic>
        <p:nvPicPr>
          <p:cNvPr id="12" name="Image 0" descr="/home/claude/charts/q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53328" y="1801368"/>
            <a:ext cx="5477256" cy="40782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19426" cy="310896"/>
          </a:xfrm>
          <a:prstGeom prst="roundRect">
            <a:avLst>
              <a:gd name="adj" fmla="val 50000"/>
            </a:avLst>
          </a:prstGeom>
          <a:solidFill>
            <a:srgbClr val="0E6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1942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05 · IPS — Psicossocial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sinal que chega antes do desengajamento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EAF3F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801368"/>
            <a:ext cx="201168" cy="20116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572768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IPS antecipa o desengajamento: com IPS baixo,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caem no engajamento no ano seguinte; com IPS alto,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91672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pic>
        <p:nvPicPr>
          <p:cNvPr id="9" name="Image 0" descr="/home/claude/charts/q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441448"/>
            <a:ext cx="10872216" cy="33924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998464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i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  </a:t>
            </a:r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esquerda, quanto menor o IPS, maior a chance de queda de engajamento no ano seguinte; à direita, o desempenho (IDA) fica estável. O IPS é um “indicador antecedente” de desengajamento — avisa antes de a participação cair.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44368" cy="310896"/>
          </a:xfrm>
          <a:prstGeom prst="roundRect">
            <a:avLst>
              <a:gd name="adj" fmla="val 50000"/>
            </a:avLst>
          </a:prstGeom>
          <a:solidFill>
            <a:srgbClr val="0E6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44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06 · IPP — Psicopedagógico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histórico não é destino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EAF3F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801368"/>
            <a:ext cx="201168" cy="20116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572768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média, o IPP é maior para quem está em fase (7,55) do que para os defasados (~6,9). No indivíduo, a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enorme dispersão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desmente o histórico.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91672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pic>
        <p:nvPicPr>
          <p:cNvPr id="9" name="Image 0" descr="/home/claude/charts/q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441448"/>
            <a:ext cx="10872216" cy="33924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998464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i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  </a:t>
            </a:r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barras confirmam a tendência média; os boxplots revelam alunos com atraso histórico e ótimo potencial atual — e o contrário. Direcione o apoio pelo potencial de hoje.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44368" cy="310896"/>
          </a:xfrm>
          <a:prstGeom prst="roundRect">
            <a:avLst>
              <a:gd name="adj" fmla="val 50000"/>
            </a:avLst>
          </a:prstGeom>
          <a:solidFill>
            <a:srgbClr val="0E6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44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07 · IPV — Ponto de Virada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gatilho da virada: engajar e estudar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82296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37360"/>
            <a:ext cx="4855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motores da virada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(0,58), IEG (0,55) e IPP (0,53) são os que mais puxam o Ponto de Virada.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82296" cy="822960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761488"/>
            <a:ext cx="48554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influência direta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 histórica (IAN, 0,14), autoavaliação (IAA, 0,02) e psicossocial (IPS) quase não movem o salto.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82296" cy="77724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877056"/>
            <a:ext cx="48554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negócio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Engajar e estudar, com suporte psicopedagógico, são os verdadeiros gatilhos da virada.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0" y="1691640"/>
            <a:ext cx="5696712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pic>
        <p:nvPicPr>
          <p:cNvPr id="12" name="Image 0" descr="/home/claude/charts/q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53328" y="1801368"/>
            <a:ext cx="5477256" cy="40782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44368" cy="310896"/>
          </a:xfrm>
          <a:prstGeom prst="roundRect">
            <a:avLst>
              <a:gd name="adj" fmla="val 50000"/>
            </a:avLst>
          </a:prstGeom>
          <a:solidFill>
            <a:srgbClr val="0E6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44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08 · Multidimensionalidade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fórmula da nota geral (INDE)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EAF3F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801368"/>
            <a:ext cx="201168" cy="20116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572768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geral é puxada por dois motores: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(IDA, r=0,76)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(IEG, r=0,72)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91672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pic>
        <p:nvPicPr>
          <p:cNvPr id="9" name="Image 0" descr="/home/claude/charts/q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441448"/>
            <a:ext cx="10872216" cy="33924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998464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i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  </a:t>
            </a:r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esquerda, as três faixas do INDE por indicador; à direita, a força de cada um. O IPS (r=0,24) é base estável; IDA e IEG fazem a diferença entre risco e alto desempenho.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297680"/>
            <a:ext cx="4206240" cy="4206240"/>
          </a:xfrm>
          <a:prstGeom prst="ellipse">
            <a:avLst/>
          </a:prstGeom>
          <a:ln w="15875">
            <a:solidFill>
              <a:srgbClr val="1D3A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ln w="15875">
            <a:solidFill>
              <a:srgbClr val="1D3A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031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108960" y="2331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Antecipando o Futuro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154680" y="3429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análise à ação — prever, decidir e agir.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9464" cy="310896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569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09 ·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Prever o risco antes da queda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EAF3F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801368"/>
            <a:ext cx="201168" cy="20116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572768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de alerta precoce prevê quem estará defasado no ano seguinte com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0,88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bem acima do acaso (0,50).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91672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pic>
        <p:nvPicPr>
          <p:cNvPr id="9" name="Image 0" descr="/home/claude/charts/q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395728"/>
            <a:ext cx="10872216" cy="3072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i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  </a:t>
            </a:r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esquerda, os sinais que mais antecipam o risco: a situação atual e o IPP (potencial pedagógico); à direita, a curva ROC (quanto mais “colada” ao canto superior esquerdo, melhor a previsão). Pipeline: feature engineering › treino/teste (75/25) › Random Forest › avaliação (ROC-AUC) › deploy no Streamlit.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94330" cy="310896"/>
          </a:xfrm>
          <a:prstGeom prst="roundRect">
            <a:avLst>
              <a:gd name="adj" fmla="val 50000"/>
            </a:avLst>
          </a:prstGeom>
          <a:solidFill>
            <a:srgbClr val="0E6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0943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10 · Efetividade do Programa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programa funciona? SIM — com atenção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EAF3F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801368"/>
            <a:ext cx="201168" cy="20116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572768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proporção de alunos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Topázio saltou de 23% para 34%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 defasagem caiu fortemente; o INDE médio manteve-se estável (7,38) — impacto real, com desempenho e engajamento a recuperar em 2024.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91672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pic>
        <p:nvPicPr>
          <p:cNvPr id="9" name="Image 0" descr="/home/claude/charts/q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441448"/>
            <a:ext cx="10872216" cy="33924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998464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i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  </a:t>
            </a:r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esquerda, o INDE se mantém estável enquanto IDA e IEG recuam em 2024; à direita, os alunos migram para as “pedras” mais altas (Topázio cresce). Atenção: recuperar desempenho e engajamento no último ano.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94330" cy="310896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0943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11 · Insights &amp; Criatividade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ideias para potencializar a mágica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84248"/>
            <a:ext cx="548640" cy="548640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84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precoce por IPS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o IPS num radar de desengajamento e agir antes da queda de participação (Q5).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42816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1984248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443984" y="1984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11496" y="20116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o desempenho (IDA)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71416" y="26517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e mentoria nas fases que recuaram no IDA — com destaque para Alfa e Fases 1 e 4 (Q2).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36992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984248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984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05672" y="20116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Combustível é engajamento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165592" y="26517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Rituais que aumentam participação puxam desempenho e virada ao mesmo tempo (Q3/Q7).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95728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96896" y="4087368"/>
            <a:ext cx="548640" cy="54864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2" name="Text 20"/>
          <p:cNvSpPr/>
          <p:nvPr/>
        </p:nvSpPr>
        <p:spPr>
          <a:xfrm>
            <a:off x="2596896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64408" y="4114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Repensar a autoavaliação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624328" y="47548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IAA não reflete a realidade: revisar o questionário e usá-lo como leitura emocional (Q4).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9904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91072" y="4087368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7" name="Text 25"/>
          <p:cNvSpPr/>
          <p:nvPr/>
        </p:nvSpPr>
        <p:spPr>
          <a:xfrm>
            <a:off x="6291072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58584" y="4114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acima do histórico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18504" y="47548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Intervir pelo IPP atual do aluno, não pela defasagem passada (Q6).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94714" cy="310896"/>
          </a:xfrm>
          <a:prstGeom prst="roundRect">
            <a:avLst>
              <a:gd name="adj" fmla="val 50000"/>
            </a:avLst>
          </a:prstGeom>
          <a:solidFill>
            <a:srgbClr val="0E6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9471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ANÁLISE À AÇÃO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 para a Passos Mágicos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84248"/>
            <a:ext cx="384048" cy="38404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alerta precoce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87452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IPS + quedas de engajamento (IEG) para sinalizar desengajamento antes da queda.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424160" y="2020824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0" y="202082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80360"/>
            <a:ext cx="384048" cy="384048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77063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Reforçar o acompanhamento psicopedagógico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770632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avaliações e planos individualizados baseados no IPP: ele prevê risco (Q9) e impulsiona a virada (Q7).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0" y="2916936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424160" y="291693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75304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776472"/>
            <a:ext cx="384048" cy="384048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666744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direcionado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3666744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e reforço para a Fase 4 e para alunos com queda de engajamento.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424160" y="381304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0" y="381304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471416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6F8FA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672584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672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456285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 engajamento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4562856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Rituais de reconhecimento da participação — o gatilho comprovado da virada.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424160" y="470916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32" name="Text 30"/>
          <p:cNvSpPr/>
          <p:nvPr/>
        </p:nvSpPr>
        <p:spPr>
          <a:xfrm>
            <a:off x="10424160" y="470916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367528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5568696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568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71600" y="545896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 autoavaliação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54880" y="5458968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Recalibrar o instrumento do IAA e usá-lo como leitura emocional, não de desempenho.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424160" y="560527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39" name="Text 37"/>
          <p:cNvSpPr/>
          <p:nvPr/>
        </p:nvSpPr>
        <p:spPr>
          <a:xfrm>
            <a:off x="10424160" y="560527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  ·  Datathon PEDE 2022–2024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33856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206240" cy="4206240"/>
          </a:xfrm>
          <a:prstGeom prst="ellipse">
            <a:avLst/>
          </a:prstGeom>
          <a:ln w="15875">
            <a:solidFill>
              <a:srgbClr val="1D3A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114800"/>
            <a:ext cx="3840480" cy="3840480"/>
          </a:xfrm>
          <a:prstGeom prst="ellipse">
            <a:avLst/>
          </a:prstGeom>
          <a:ln w="15875">
            <a:solidFill>
              <a:srgbClr val="1D3A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640080"/>
            <a:ext cx="1188720" cy="118872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00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confirmam que a fórmula mágica funciona — e mostram exatamente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mirar para funcionar ainda mais.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4526280"/>
            <a:ext cx="2743200" cy="0"/>
          </a:xfrm>
          <a:prstGeom prst="line">
            <a:avLst/>
          </a:prstGeom>
          <a:noFill/>
          <a:ln w="25400">
            <a:solidFill>
              <a:srgbClr val="E8A1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68172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— Fase 5  ·  Associação Passos Mágicos  ·  PEDE 2022–2024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2026-07-29T15:53:43Z</dcterms:created>
  <dcterms:modified xsi:type="dcterms:W3CDTF">2026-07-29T15:53:43Z</dcterms:modified>
</cp:coreProperties>
</file>